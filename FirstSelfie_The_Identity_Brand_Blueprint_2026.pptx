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01: Welcome the viewer. Introduce FirstSelfie 2026 Edition. Emphasize that generic, copycat personal branding is dead. We are presenting the 3-Star Architecture to engineer an uncopyable Identity Brand.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02: Walk through the multi-niche proof matrix. Highlight Finance With Raghu (+45K HNW followers), Dr. Hariharan (orthopedic surgeon authority), White Paper House (₹0 ad spend, 100% inbound B2B deals), and Wedding Dhanushya. Then touch on AI Systems (Nuke Code), SaaS (Sarathi), and B2B (Deepan).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03: The Macro Shift. 99% of founder content looks identical. Explain the commodity trap and why attention without category authority produces zero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04: The Plagiarism Problem. Side-by-side comparison of genuine viral thought-leadership versus the cheap copycat carousels that flood feeds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05: The FirstSelfie Thesis. The Identity Brand Formula. Audience + Perception + Conversion = Category Monopoly.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06: Proof Case Study: White Paper House. Detail the 531+ to 7,000+ scaling journey, zero ad spend, and how founder authority drives enterprise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07: The 30-Day Launch Roadmap. Phase 1 Foundation: Visual identity, content codex, and positioning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08: The 30-Day Roadmap Phase 2: Production, multi-platform syndication, and high-converting inbound funnels.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09: Pillar 1 Introduction: The Identity Codex. Why your core belief system and category point-of-view must be uncopyable.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Codex Architecture. Breakdown of the 4 narrative pillars that make founder perspectives immune to commoditization.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Belief Shift Engineering. Transforming passive scrollers into passionate brand advocates through polarizing industry truths.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Content Matrix &amp; Formats. The exact distribution ratio: 40% Authority, 30% Proof/Case Study, 20% Category Shift, 10% 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Pillar 2 Introduction: The Media Engine. Instagram and YouTube scaling proof: 40.9K followers, 11 Lakh accounts reached.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Engine HUD Status: Pillar 1 Codex Locked. Now transitioning into Pillar 2 Engine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Production Protocol. Turnkey filming workflows requiring only 2 hours of founder time per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Cinematic Video Standards. Visual framing, lighting, micro-hooks, and retention-engineered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Multi-Platform Syndication. Taking one core recording and syndicating to YouTube Shorts, Reels, LinkedIn, and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Pillar 2 Summary: Consistency at Scale. Never missing an upload while maintaining executive production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Pillar 3 Introduction: The APA Conversion Matrix. Audience, Perception,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APA Architecture. Mapping viewer attention directly into high-ticket inbound sales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High-Ticket Lead Funnel. How DMs and comment triggers qualify prospective enterprise buyers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Omnichannel Distribution Proof. 7.0M Reel reach, 2.7K comments, and engaged founder community.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Complete 3-Star Architecture Summary. Pillar 1 Codex + Pillar 2 Engine + Pillar 3 APA Matrix working in unison.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Inbound Validation &amp; DMs. Real client conversations, bookings, and verified inbound inquiries.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25: Investment &amp; Partner Model. Exclusive 90-day sprint engagement with dedicated executive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26: Final Call to Action. Secure your category monopoly for 2026. Schedule your Private Strategy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png"/><Relationship Id="rId5" Type="http://schemas.openxmlformats.org/officeDocument/2006/relationships/image" Target="../media/image3.jpg"/><Relationship Id="rId6" Type="http://schemas.openxmlformats.org/officeDocument/2006/relationships/image" Target="../media/image4.png"/><Relationship Id="rId7" Type="http://schemas.openxmlformats.org/officeDocument/2006/relationships/image" Target="../media/image5.jpg"/><Relationship Id="rId8" Type="http://schemas.openxmlformats.org/officeDocument/2006/relationships/image" Target="../media/image6.png"/><Relationship Id="rId9" Type="http://schemas.openxmlformats.org/officeDocument/2006/relationships/image" Target="../media/image7.jpg"/><Relationship Id="rId10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01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FIRSTSELFIE STRATEGIC BRIEFING //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End of Copycat Personal Branding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 b="1">
                <a:solidFill>
                  <a:srgbClr val="FFFFFF"/>
                </a:solidFill>
                <a:latin typeface="Poppins"/>
              </a:defRPr>
            </a:pPr>
            <a:r>
              <a:t>The 3-Star Architecture to engineer an uncopyable, compounding Identity Brand.</a:t>
            </a:r>
          </a:p>
          <a:p>
            <a:pPr>
              <a:spcAft>
                <a:spcPts val="2800"/>
              </a:spcAft>
              <a:defRPr sz="1500" b="1">
                <a:solidFill>
                  <a:srgbClr val="FF6B00"/>
                </a:solidFill>
                <a:latin typeface="Poppins"/>
              </a:defRPr>
            </a:pPr>
            <a:r>
              <a:t>Your First Frame to a Million Faces.</a:t>
            </a:r>
          </a:p>
          <a:p>
            <a:pPr>
              <a:lnSpc>
                <a:spcPct val="130000"/>
              </a:lnSpc>
              <a:defRPr sz="1200">
                <a:solidFill>
                  <a:srgbClr val="A6A6A6"/>
                </a:solidFill>
                <a:latin typeface="Poppins"/>
              </a:defRPr>
            </a:pPr>
            <a:r>
              <a:t>99% of founder personal branding fails because it copies templates instead of engineering proprietary authority. This blueprint presents the systematic methodology proven across healthcare, wealth advisory, enterprise SaaS, and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45920"/>
            <a:ext cx="4389120" cy="45720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103120"/>
            <a:ext cx="3291840" cy="1828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80960" y="4297680"/>
            <a:ext cx="3291840" cy="411480"/>
          </a:xfrm>
          <a:prstGeom prst="roundRect">
            <a:avLst/>
          </a:prstGeom>
          <a:solidFill>
            <a:srgbClr val="1E1008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6B00"/>
                </a:solidFill>
              </a:defRPr>
            </a:pPr>
            <a:r>
              <a:t>IDENTITY BRAND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937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3-Star System · 26 Strategic Modules Engineered for Category Dominance</a:t>
            </a:r>
            <a:br/>
            <a:r>
              <a:t>@FIRSTSELFIE.IN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02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CROSS-INDUSTRY 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Validated Across High-Ticket B2B, Tech, and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6A6A6"/>
                </a:solidFill>
                <a:latin typeface="Poppins"/>
              </a:defRPr>
            </a:pPr>
            <a:r>
              <a:t>Scaled authority profiles proven across wealth, healthcare, enterprise AI, media, SaaS &amp; luxury B2C.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29968"/>
            <a:ext cx="2606040" cy="303580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aghu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139696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2103120"/>
            <a:ext cx="1965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Finance With Raghu</a:t>
            </a:r>
          </a:p>
          <a:p>
            <a:pPr>
              <a:defRPr sz="700" b="1">
                <a:solidFill>
                  <a:srgbClr val="FF6B00"/>
                </a:solidFill>
              </a:defRPr>
            </a:pPr>
            <a:r>
              <a:t>WEALTH ADVISORY</a:t>
            </a:r>
          </a:p>
        </p:txBody>
      </p:sp>
      <p:pic>
        <p:nvPicPr>
          <p:cNvPr id="12" name="Picture 11" descr="raghu_previe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578608"/>
            <a:ext cx="2386584" cy="2057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4681728"/>
            <a:ext cx="2386584" cy="292608"/>
          </a:xfrm>
          <a:prstGeom prst="round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9A3C"/>
                </a:solidFill>
              </a:defRPr>
            </a:pPr>
            <a:r>
              <a:t>+45K HNW Followers · Retainers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029968"/>
            <a:ext cx="2606040" cy="303580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hariharan_ava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288" y="2139696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86200" y="2103120"/>
            <a:ext cx="1965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Dr. Hariharan</a:t>
            </a:r>
          </a:p>
          <a:p>
            <a:pPr>
              <a:defRPr sz="700" b="1">
                <a:solidFill>
                  <a:srgbClr val="FF6B00"/>
                </a:solidFill>
              </a:defRPr>
            </a:pPr>
            <a:r>
              <a:t>HEALTHCARE &amp; SURGERY</a:t>
            </a:r>
          </a:p>
        </p:txBody>
      </p:sp>
      <p:pic>
        <p:nvPicPr>
          <p:cNvPr id="17" name="Picture 16" descr="hariharan_preview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2578608"/>
            <a:ext cx="2386584" cy="20574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447288" y="4681728"/>
            <a:ext cx="2386584" cy="292608"/>
          </a:xfrm>
          <a:prstGeom prst="round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9A3C"/>
                </a:solidFill>
              </a:defRPr>
            </a:pPr>
            <a:r>
              <a:t>Orthopedic Authority · Zero 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029968"/>
            <a:ext cx="2606040" cy="303580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hitepaper_avat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2139696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75120" y="2103120"/>
            <a:ext cx="1965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White Paper House</a:t>
            </a:r>
          </a:p>
          <a:p>
            <a:pPr>
              <a:defRPr sz="700" b="1">
                <a:solidFill>
                  <a:srgbClr val="FF6B00"/>
                </a:solidFill>
              </a:defRPr>
            </a:pPr>
            <a:r>
              <a:t>CREATIVE AGENCY</a:t>
            </a:r>
          </a:p>
        </p:txBody>
      </p:sp>
      <p:pic>
        <p:nvPicPr>
          <p:cNvPr id="22" name="Picture 21" descr="whitepaper_preview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578608"/>
            <a:ext cx="2386584" cy="20574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236208" y="4681728"/>
            <a:ext cx="2386584" cy="292608"/>
          </a:xfrm>
          <a:prstGeom prst="round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9A3C"/>
                </a:solidFill>
              </a:defRPr>
            </a:pPr>
            <a:r>
              <a:t>₹0 Ad Spend · 100% Inbound B2B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2029968"/>
            <a:ext cx="2606040" cy="303580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25128" y="2139696"/>
            <a:ext cx="384048" cy="384048"/>
          </a:xfrm>
          <a:prstGeom prst="ellipse">
            <a:avLst/>
          </a:prstGeom>
          <a:solidFill>
            <a:srgbClr val="230F05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6B00"/>
                </a:solidFill>
              </a:defRPr>
            </a:pPr>
            <a:r>
              <a:t>WD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103120"/>
            <a:ext cx="1965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Wedding Dhanushya</a:t>
            </a:r>
          </a:p>
          <a:p>
            <a:pPr>
              <a:defRPr sz="700" b="1">
                <a:solidFill>
                  <a:srgbClr val="FF6B00"/>
                </a:solidFill>
              </a:defRPr>
            </a:pPr>
            <a:r>
              <a:t>LUXURY B2C</a:t>
            </a:r>
          </a:p>
        </p:txBody>
      </p:sp>
      <p:pic>
        <p:nvPicPr>
          <p:cNvPr id="27" name="Picture 26" descr="thoufiq_preview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5128" y="2578608"/>
            <a:ext cx="2386584" cy="20574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025128" y="4681728"/>
            <a:ext cx="2386584" cy="292608"/>
          </a:xfrm>
          <a:prstGeom prst="round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9A3C"/>
                </a:solidFill>
              </a:defRPr>
            </a:pPr>
            <a:r>
              <a:t>Viral Video IP · Premium Clients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193792"/>
            <a:ext cx="3529584" cy="12984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5394959"/>
            <a:ext cx="502920" cy="502920"/>
          </a:xfrm>
          <a:prstGeom prst="ellipse">
            <a:avLst/>
          </a:prstGeom>
          <a:solidFill>
            <a:srgbClr val="230F05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6B00"/>
                </a:solidFill>
              </a:defRPr>
            </a:pPr>
            <a:r>
              <a:t>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266944"/>
            <a:ext cx="1783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Nuke Code ✓</a:t>
            </a:r>
          </a:p>
          <a:p>
            <a:pPr>
              <a:defRPr sz="700" b="1">
                <a:solidFill>
                  <a:srgbClr val="FF6B00"/>
                </a:solidFill>
              </a:defRPr>
            </a:pPr>
            <a:r>
              <a:t>AI SYSTEMS &amp; AUTOMATION</a:t>
            </a:r>
          </a:p>
          <a:p>
            <a:pPr>
              <a:defRPr sz="800">
                <a:solidFill>
                  <a:srgbClr val="A6A6A6"/>
                </a:solidFill>
              </a:defRPr>
            </a:pPr>
            <a:r>
              <a:t>Founder-led media scaled pipeline for enterprise AI contracts.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422392"/>
            <a:ext cx="868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6B00"/>
                </a:solidFill>
              </a:defRPr>
            </a:pPr>
            <a:r>
              <a:t>100%</a:t>
            </a:r>
          </a:p>
          <a:p>
            <a:pPr algn="r">
              <a:defRPr sz="700" b="1">
                <a:solidFill>
                  <a:srgbClr val="6E6E6E"/>
                </a:solidFill>
              </a:defRPr>
            </a:pPr>
            <a:r>
              <a:t>INBOUND B2B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79392" y="5193792"/>
            <a:ext cx="3529584" cy="12984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16552" y="5394959"/>
            <a:ext cx="502920" cy="502920"/>
          </a:xfrm>
          <a:prstGeom prst="ellipse">
            <a:avLst/>
          </a:prstGeom>
          <a:solidFill>
            <a:srgbClr val="230F05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6B00"/>
                </a:solidFill>
              </a:defRPr>
            </a:pPr>
            <a:r>
              <a:t>SR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5266944"/>
            <a:ext cx="1783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Sarathi ✓</a:t>
            </a:r>
          </a:p>
          <a:p>
            <a:pPr>
              <a:defRPr sz="700" b="1">
                <a:solidFill>
                  <a:srgbClr val="FF6B00"/>
                </a:solidFill>
              </a:defRPr>
            </a:pPr>
            <a:r>
              <a:t>TECH SAAS &amp; PLATFORMS</a:t>
            </a:r>
          </a:p>
          <a:p>
            <a:pPr>
              <a:defRPr sz="800">
                <a:solidFill>
                  <a:srgbClr val="A6A6A6"/>
                </a:solidFill>
              </a:defRPr>
            </a:pPr>
            <a:r>
              <a:t>Turnkey founder video engine replacing outbound SDRs.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5422392"/>
            <a:ext cx="868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6B00"/>
                </a:solidFill>
              </a:defRPr>
            </a:pPr>
            <a:r>
              <a:t>2 hrs</a:t>
            </a:r>
          </a:p>
          <a:p>
            <a:pPr algn="r">
              <a:defRPr sz="700" b="1">
                <a:solidFill>
                  <a:srgbClr val="6E6E6E"/>
                </a:solidFill>
              </a:defRPr>
            </a:pPr>
            <a:r>
              <a:t>WEEKLY LOAD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5193792"/>
            <a:ext cx="3529584" cy="12984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47304" y="5394959"/>
            <a:ext cx="502920" cy="502920"/>
          </a:xfrm>
          <a:prstGeom prst="ellipse">
            <a:avLst/>
          </a:prstGeom>
          <a:solidFill>
            <a:srgbClr val="230F05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6B00"/>
                </a:solidFill>
              </a:defRPr>
            </a:pPr>
            <a:r>
              <a:t>DP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1664" y="5266944"/>
            <a:ext cx="1783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Deepan ✓</a:t>
            </a:r>
          </a:p>
          <a:p>
            <a:pPr>
              <a:defRPr sz="700" b="1">
                <a:solidFill>
                  <a:srgbClr val="FF6B00"/>
                </a:solidFill>
              </a:defRPr>
            </a:pPr>
            <a:r>
              <a:t>ENTERPRISE B2B ADVISORY</a:t>
            </a:r>
          </a:p>
          <a:p>
            <a:pPr>
              <a:defRPr sz="800">
                <a:solidFill>
                  <a:srgbClr val="A6A6A6"/>
                </a:solidFill>
              </a:defRPr>
            </a:pPr>
            <a:r>
              <a:t>Polarizing category thesis positioning that commands retainers.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70463" y="5422392"/>
            <a:ext cx="868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6B00"/>
                </a:solidFill>
              </a:defRPr>
            </a:pPr>
            <a:r>
              <a:t>Zero</a:t>
            </a:r>
          </a:p>
          <a:p>
            <a:pPr algn="r">
              <a:defRPr sz="700" b="1">
                <a:solidFill>
                  <a:srgbClr val="6E6E6E"/>
                </a:solidFill>
              </a:defRPr>
            </a:pPr>
            <a:r>
              <a:t>COLD OUTREACH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03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THE COMMODITY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99% of Founder Content Looks Identical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6A6A6"/>
                </a:solidFill>
                <a:latin typeface="Poppins"/>
              </a:defRPr>
            </a:pPr>
            <a:r>
              <a:t>The macro collapse of generic personal branding and why templates kill conversion.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529584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39"/>
            <a:ext cx="307238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1">
                <a:solidFill>
                  <a:srgbClr val="FF3D00"/>
                </a:solidFill>
              </a:defRPr>
            </a:pPr>
            <a:r>
              <a:t>PROBLEM 01</a:t>
            </a:r>
          </a:p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</a:defRPr>
            </a:pPr>
            <a:r>
              <a:t>The Template Trap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Founders copy viral hooks, carousel layouts, and generic talking points. They gain superficial views but zero qualified inbound enterprise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103120"/>
            <a:ext cx="3529584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377439"/>
            <a:ext cx="307238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1">
                <a:solidFill>
                  <a:srgbClr val="FF3D00"/>
                </a:solidFill>
              </a:defRPr>
            </a:pPr>
            <a:r>
              <a:t>PROBLEM 02</a:t>
            </a:r>
          </a:p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</a:defRPr>
            </a:pPr>
            <a:r>
              <a:t>Algorithm Volatility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Chasing trend audio and entertainment formats makes you hostage to algorithmic swings. You build an audience of spectators, not decision-makers.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103120"/>
            <a:ext cx="3529584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2377439"/>
            <a:ext cx="307238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1">
                <a:solidFill>
                  <a:srgbClr val="FF6B00"/>
                </a:solidFill>
              </a:defRPr>
            </a:pPr>
            <a:r>
              <a:t>SOLUTION: THE CODEX</a:t>
            </a:r>
          </a:p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</a:defRPr>
            </a:pPr>
            <a:r>
              <a:t>Category Monopoly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An Identity Brand anchors to proprietary frameworks, polarizing conviction, and cinematic video proof that competitors cannot replicate.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04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ORIGINAL VS COPYCAT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Plagiarism Is Everywhere. Identity Cannot Be Copied.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303520" cy="45720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ORIGINAL THOUGHT LEADER</a:t>
            </a:r>
          </a:p>
        </p:txBody>
      </p:sp>
      <p:pic>
        <p:nvPicPr>
          <p:cNvPr id="10" name="Picture 9" descr="Screenshot_2026-05-13-23-40-47-087_com.instagram.androi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60320"/>
            <a:ext cx="2103120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08960" y="29260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Original Category Position:</a:t>
            </a:r>
            <a:br/>
            <a:br/>
            <a:r>
              <a:t>• Engineered narrative structure</a:t>
            </a:r>
            <a:br/>
            <a:r>
              <a:t>• Real client results cited</a:t>
            </a:r>
            <a:br/>
            <a:r>
              <a:t>• Commands respect &amp; high ticket sales</a:t>
            </a:r>
            <a:br/>
            <a:r>
              <a:t>• Zero template dependency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03520" cy="45720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3D00"/>
                </a:solidFill>
              </a:defRPr>
            </a:pPr>
            <a:r>
              <a:t>CHEAP COPYCAT DUPLICATOR</a:t>
            </a:r>
          </a:p>
        </p:txBody>
      </p:sp>
      <p:pic>
        <p:nvPicPr>
          <p:cNvPr id="14" name="Picture 13" descr="Screenshot_2026-05-13-23-37-44-843_com.instagram.androi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560320"/>
            <a:ext cx="2103120" cy="3657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78240" y="29260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Shallow Repurposed Noise:</a:t>
            </a:r>
            <a:br/>
            <a:br/>
            <a:r>
              <a:t>• Word-for-word plagiarized hooks</a:t>
            </a:r>
            <a:br/>
            <a:r>
              <a:t>• Disconnected from actual operations</a:t>
            </a:r>
            <a:br/>
            <a:r>
              <a:t>• Audience sees right through it</a:t>
            </a:r>
            <a:br/>
            <a:r>
              <a:t>• ZERO business enterprise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05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THE IDENTITY BRAND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Audience + Perception + Conversion = Category Monopoly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529584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07238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FF6B00"/>
                </a:solidFill>
              </a:defRPr>
            </a:pPr>
            <a:r>
              <a:t>STAR 01</a:t>
            </a:r>
          </a:p>
          <a:p>
            <a:pPr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AUDIENCE ENGINE</a:t>
            </a:r>
          </a:p>
          <a:p>
            <a:pPr>
              <a:spcAft>
                <a:spcPts val="1600"/>
              </a:spcAft>
              <a:defRPr sz="1100" b="1">
                <a:solidFill>
                  <a:srgbClr val="FF6B00"/>
                </a:solidFill>
              </a:defRPr>
            </a:pPr>
            <a:r>
              <a:t>Proprietary Video Distribution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High-velocity cinematic video assets tailored for organic reach across YouTube Shorts, Instagram Reels, and LinkedIn.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2103120"/>
            <a:ext cx="3529584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286000"/>
            <a:ext cx="307238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FF3D00"/>
                </a:solidFill>
              </a:defRPr>
            </a:pPr>
            <a:r>
              <a:t>STAR 02</a:t>
            </a:r>
          </a:p>
          <a:p>
            <a:pPr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PERCEPTION CODEX</a:t>
            </a:r>
          </a:p>
          <a:p>
            <a:pPr>
              <a:spcAft>
                <a:spcPts val="1600"/>
              </a:spcAft>
              <a:defRPr sz="1100" b="1">
                <a:solidFill>
                  <a:srgbClr val="FF3D00"/>
                </a:solidFill>
              </a:defRPr>
            </a:pPr>
            <a:r>
              <a:t>Uncopyable Belief Architecture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Polarizing category POVs, founder conviction frameworks, and executive positioning that commands immediate category authority.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2103120"/>
            <a:ext cx="3529584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286000"/>
            <a:ext cx="307238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FF9A3C"/>
                </a:solidFill>
              </a:defRPr>
            </a:pPr>
            <a:r>
              <a:t>STAR 03</a:t>
            </a:r>
          </a:p>
          <a:p>
            <a:pPr>
              <a:spcAft>
                <a:spcPts val="600"/>
              </a:spcAft>
              <a:defRPr sz="1700" b="1">
                <a:solidFill>
                  <a:srgbClr val="FFFFFF"/>
                </a:solidFill>
              </a:defRPr>
            </a:pPr>
            <a:r>
              <a:t>APA CONVERSION MATRIX</a:t>
            </a:r>
          </a:p>
          <a:p>
            <a:pPr>
              <a:spcAft>
                <a:spcPts val="1600"/>
              </a:spcAft>
              <a:defRPr sz="1100" b="1">
                <a:solidFill>
                  <a:srgbClr val="FF9A3C"/>
                </a:solidFill>
              </a:defRPr>
            </a:pPr>
            <a:r>
              <a:t>Inbound Pipeline Funnels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Systematic comment &amp; DM automation that transforms passive viewers directly into pre-sold discovery calls and retainers.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06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AGENCY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How White Paper House Generated 100% Inbound B2B Deals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6A6A6"/>
                </a:solidFill>
                <a:latin typeface="Poppins"/>
              </a:defRPr>
            </a:pPr>
            <a:r>
              <a:t>Scaling authority from 531 to 7,000+ followers with zero paid 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5303520" cy="448056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hite Paper Productio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03120"/>
            <a:ext cx="4846320" cy="411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26480" y="1920240"/>
            <a:ext cx="5394960" cy="448056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FF6B00"/>
                </a:solidFill>
              </a:defRPr>
            </a:pPr>
            <a:r>
              <a:t>EXECUTIVE CASE STUDY</a:t>
            </a:r>
          </a:p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White Paper Production Agency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• ₹0 Paid Ad Spend: 100% of pipeline generated through founder video</a:t>
            </a:r>
            <a:br/>
            <a:r>
              <a:t>• High-Ticket Retainers: Converted enterprise production contracts</a:t>
            </a:r>
            <a:br/>
            <a:r>
              <a:t>• Authority Proof: Positioned as the premier content studio in Tamil Nadu</a:t>
            </a:r>
            <a:br/>
            <a:r>
              <a:t>• Turnkey Video Engine: Scaled output without founder burnout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120640"/>
            <a:ext cx="2286000" cy="1005840"/>
          </a:xfrm>
          <a:prstGeom prst="roundRect">
            <a:avLst/>
          </a:prstGeom>
          <a:solidFill>
            <a:srgbClr val="1C1008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B00"/>
                </a:solidFill>
              </a:defRPr>
            </a:pPr>
            <a:r>
              <a:t>₹0</a:t>
            </a:r>
          </a:p>
          <a:p>
            <a:pPr algn="ctr">
              <a:defRPr sz="800" b="1">
                <a:solidFill>
                  <a:srgbClr val="6E6E6E"/>
                </a:solidFill>
              </a:defRPr>
            </a:pPr>
            <a:r>
              <a:t>AD SPEND REQUIRED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5120640"/>
            <a:ext cx="2286000" cy="1005840"/>
          </a:xfrm>
          <a:prstGeom prst="roundRect">
            <a:avLst/>
          </a:prstGeom>
          <a:solidFill>
            <a:srgbClr val="1C1008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B00"/>
                </a:solidFill>
              </a:defRPr>
            </a:pPr>
            <a:r>
              <a:t>100%</a:t>
            </a:r>
          </a:p>
          <a:p>
            <a:pPr algn="ctr">
              <a:defRPr sz="800" b="1">
                <a:solidFill>
                  <a:srgbClr val="6E6E6E"/>
                </a:solidFill>
              </a:defRPr>
            </a:pPr>
            <a:r>
              <a:t>INBOUND B2B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07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30-DAY EXECUTION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Phase 1: Brand Codex &amp; Visual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6A6A6"/>
                </a:solidFill>
                <a:latin typeface="Poppins"/>
              </a:defRPr>
            </a:pPr>
            <a:r>
              <a:t>Days 01–15: Engineering uncopyable positioning and visual assets.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DAY 01–03</a:t>
            </a:r>
          </a:p>
          <a:p>
            <a:pPr>
              <a:spcAft>
                <a:spcPts val="1400"/>
              </a:spcAft>
              <a:defRPr sz="1500" b="1">
                <a:solidFill>
                  <a:srgbClr val="FFFFFF"/>
                </a:solidFill>
              </a:defRPr>
            </a:pPr>
            <a:r>
              <a:t>Positioning &amp; Category Wedge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Identify the unique enemy, polarizing industry belief, and category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DAY 04–07</a:t>
            </a:r>
          </a:p>
          <a:p>
            <a:pPr>
              <a:spcAft>
                <a:spcPts val="1400"/>
              </a:spcAft>
              <a:defRPr sz="1500" b="1">
                <a:solidFill>
                  <a:srgbClr val="FFFFFF"/>
                </a:solidFill>
              </a:defRPr>
            </a:pPr>
            <a:r>
              <a:t>Brand Identity &amp; Visual Codex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Cinematic color grading, typographic hierarchy, lower-thirds, and visual signatures.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DAY 08–11</a:t>
            </a:r>
          </a:p>
          <a:p>
            <a:pPr>
              <a:spcAft>
                <a:spcPts val="1400"/>
              </a:spcAft>
              <a:defRPr sz="1500" b="1">
                <a:solidFill>
                  <a:srgbClr val="FFFFFF"/>
                </a:solidFill>
              </a:defRPr>
            </a:pPr>
            <a:r>
              <a:t>Narrative Pillar Architecture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Formulate the 4 core content pillars: Origin, Paradigm, Proof, and Mechanism.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DAY 12–15</a:t>
            </a:r>
          </a:p>
          <a:p>
            <a:pPr>
              <a:spcAft>
                <a:spcPts val="1400"/>
              </a:spcAft>
              <a:defRPr sz="1500" b="1">
                <a:solidFill>
                  <a:srgbClr val="FFFFFF"/>
                </a:solidFill>
              </a:defRPr>
            </a:pPr>
            <a:r>
              <a:t>Scripting &amp; Studio Setup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Complete batch scripting for 15 high-impact reels and initial studio calibration.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08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30-DAY EXECUTION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Phase 2: Production Engine &amp; Inbound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6A6A6"/>
                </a:solidFill>
                <a:latin typeface="Poppins"/>
              </a:defRPr>
            </a:pPr>
            <a:r>
              <a:t>Days 16–30: Scaling high-converting distribution and automated funnels.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DAY 16–18</a:t>
            </a:r>
          </a:p>
          <a:p>
            <a:pPr>
              <a:spcAft>
                <a:spcPts val="1400"/>
              </a:spcAft>
              <a:defRPr sz="1500" b="1">
                <a:solidFill>
                  <a:srgbClr val="FFFFFF"/>
                </a:solidFill>
              </a:defRPr>
            </a:pPr>
            <a:r>
              <a:t>Turnkey Film Shoot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A 2-hour high-efficiency recording sprint yielding 30+ pieces of syndicated video 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DAY 19–23</a:t>
            </a:r>
          </a:p>
          <a:p>
            <a:pPr>
              <a:spcAft>
                <a:spcPts val="1400"/>
              </a:spcAft>
              <a:defRPr sz="1500" b="1">
                <a:solidFill>
                  <a:srgbClr val="FFFFFF"/>
                </a:solidFill>
              </a:defRPr>
            </a:pPr>
            <a:r>
              <a:t>Cinematic Post-Production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Motion graphics, retention pacing, sound design, and micro-hook engineering.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DAY 24–27</a:t>
            </a:r>
          </a:p>
          <a:p>
            <a:pPr>
              <a:spcAft>
                <a:spcPts val="1400"/>
              </a:spcAft>
              <a:defRPr sz="1500" b="1">
                <a:solidFill>
                  <a:srgbClr val="FFFFFF"/>
                </a:solidFill>
              </a:defRPr>
            </a:pPr>
            <a:r>
              <a:t>Distribution Syndication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Deploying omni-channel across Instagram Reels, YouTube Shorts, and LinkedIn.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DAY 28–30</a:t>
            </a:r>
          </a:p>
          <a:p>
            <a:pPr>
              <a:spcAft>
                <a:spcPts val="1400"/>
              </a:spcAft>
              <a:defRPr sz="1500" b="1">
                <a:solidFill>
                  <a:srgbClr val="FFFFFF"/>
                </a:solidFill>
              </a:defRPr>
            </a:pPr>
            <a:r>
              <a:t>APA Lead Capture Matrix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Deploying comment triggers, direct DM qualification, and discovery call bookings.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09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PILLAR 1: THE IDENTITY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Belief Architecture That Makes You Immune to Competition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94415" cy="448056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6B00"/>
                </a:solidFill>
              </a:defRPr>
            </a:pPr>
            <a:r>
              <a:t>Why Most Founder Content Dies in the Algorithm:</a:t>
            </a:r>
          </a:p>
          <a:p>
            <a:pPr>
              <a:spcAft>
                <a:spcPts val="2000"/>
              </a:spcAft>
              <a:defRPr sz="1300">
                <a:solidFill>
                  <a:srgbClr val="FFFFFF"/>
                </a:solidFill>
              </a:defRPr>
            </a:pPr>
            <a:r>
              <a:t>When you post generic tips ('3 ways to scale your business'), you are indistinguishable from 10,000 other creators. The Identity Codex creates a distinct worldview that forces prospective clients to either strongly agree or disagree—eliminating lukewarm attention.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Key Codex Principles:</a:t>
            </a:r>
            <a:br/>
            <a:r>
              <a:t>• Uncopyable Perspective: Built around your specific operating scars and contrarian convictions.</a:t>
            </a:r>
            <a:br/>
            <a:r>
              <a:t>• Category Monopoly: Redefining the buying criteria so competitors appear obsolete.</a:t>
            </a:r>
            <a:br/>
            <a:r>
              <a:t>• Executive Presence: Speaking as a category architect, not a freelance vendor.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10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CODEX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4 Pillars of Uncopyable Founder Narrative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PILLAR 01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The Common Enemy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Call out the broken industry status quo that your buyers are suffering from.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PILLAR 02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Proprietary Mechanism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Name and explain your unique framework that delivers predictable client ROI.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PILLAR 03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Operational Proof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Behind-the-scenes teardowns, client wins, and real metrics that validate authority.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PILLAR 04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Future Vision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Inspiring predictions on where the category is heading in 2026 and beyond.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11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PERSUASION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Belief Shift Engineering: Turning Viewers Into 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303520" cy="45720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FF3D00"/>
                </a:solidFill>
              </a:defRPr>
            </a:pPr>
            <a:r>
              <a:t>OLD BELIEF (Prospect Friction)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• 'I can just run more paid ads to get customers.'</a:t>
            </a:r>
            <a:br/>
            <a:r>
              <a:t>• 'Cold outreach and SDR teams are enough.'</a:t>
            </a:r>
            <a:br/>
            <a:r>
              <a:t>• 'Personal branding is just for influencers and YouTubers.'</a:t>
            </a:r>
            <a:br/>
            <a:r>
              <a:t>• 'I don't have time to create daily content.'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45720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FF6B00"/>
                </a:solidFill>
              </a:defRPr>
            </a:pPr>
            <a:r>
              <a:t>NEW BELIEF (FirstSelfie Breakthrough)</a:t>
            </a:r>
          </a:p>
          <a:p>
            <a:pPr>
              <a:lnSpc>
                <a:spcPct val="140000"/>
              </a:lnSpc>
              <a:defRPr sz="1200">
                <a:solidFill>
                  <a:srgbClr val="FFFFFF"/>
                </a:solidFill>
              </a:defRPr>
            </a:pPr>
            <a:r>
              <a:t>• Paid ads CAC is skyrocketing; authority media has zero marginal ad cost.</a:t>
            </a:r>
            <a:br/>
            <a:r>
              <a:t>• Inbound founders command 3x higher retainers without chasing.</a:t>
            </a:r>
            <a:br/>
            <a:r>
              <a:t>• Founder Identity is the greatest asset an enterprise company holds.</a:t>
            </a:r>
            <a:br/>
            <a:r>
              <a:t>• With FirstSelfie, founders invest only 2 hours per week total.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12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DISTRIBUTION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40 / 30 / 20 / 10 Content Publishing Cadence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6B00"/>
                </a:solidFill>
              </a:defRPr>
            </a:pPr>
            <a:r>
              <a:t>40%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Category Authority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Teardowns, operational conviction, and thought leadership.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9A3C"/>
                </a:solidFill>
              </a:defRPr>
            </a:pPr>
            <a:r>
              <a:t>30%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Proof &amp; Validation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Client results, revenue case studies, and WhatsApp receipts.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3D00"/>
                </a:solidFill>
              </a:defRPr>
            </a:pPr>
            <a:r>
              <a:t>20%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Belief Shift &amp; POVs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Contrarian takes that dismantle competitor approaches.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103120"/>
            <a:ext cx="260604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</a:defRPr>
            </a:pPr>
            <a:r>
              <a:t>10%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Founder Culture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High-taste lifestyle and behind-the-scenes building.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13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PILLAR 2: THE MEDIA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Instagram Scaling Proof: 40.9K Followers &amp; 11.0L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6A6A6"/>
                </a:solidFill>
                <a:latin typeface="Poppins"/>
              </a:defRPr>
            </a:pPr>
            <a:r>
              <a:t>High-velocity distribution calibrated for compounding organic audience.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5303520" cy="448056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2026-05-10-00-40-45-026_com.instagram.androi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103120"/>
            <a:ext cx="3840480" cy="411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26480" y="1920240"/>
            <a:ext cx="5394960" cy="448056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2026-05-09-14-31-02-118_com.instagram.androi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10312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14 /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67160" y="0"/>
            <a:ext cx="621792" cy="6858000"/>
          </a:xfrm>
          <a:prstGeom prst="rect">
            <a:avLst/>
          </a:prstGeom>
          <a:solidFill>
            <a:srgbClr val="0E0E0E"/>
          </a:solidFill>
          <a:ln w="9525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2336" y="137160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5400000">
            <a:off x="11612880" y="155448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01 CODEX</a:t>
            </a:r>
          </a:p>
        </p:txBody>
      </p:sp>
      <p:sp>
        <p:nvSpPr>
          <p:cNvPr id="9" name="Oval 8"/>
          <p:cNvSpPr/>
          <p:nvPr/>
        </p:nvSpPr>
        <p:spPr>
          <a:xfrm>
            <a:off x="11832336" y="3017520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5400000">
            <a:off x="11612880" y="320040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6B00"/>
                </a:solidFill>
                <a:latin typeface="Poppins"/>
              </a:defRPr>
            </a:pPr>
            <a:r>
              <a:t>02 ENGINE</a:t>
            </a:r>
          </a:p>
        </p:txBody>
      </p:sp>
      <p:sp>
        <p:nvSpPr>
          <p:cNvPr id="11" name="Oval 10"/>
          <p:cNvSpPr/>
          <p:nvPr/>
        </p:nvSpPr>
        <p:spPr>
          <a:xfrm>
            <a:off x="11832336" y="466344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5400000">
            <a:off x="11612880" y="484632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03 APA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ENGINE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HUD Status: Pillar 1 Codex Locked → Transitioning to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011680"/>
            <a:ext cx="1078992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860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00"/>
                </a:solidFill>
              </a:defRPr>
            </a:pPr>
            <a:r>
              <a:t>SYSTEM ENGINE PROTOCOL</a:t>
            </a:r>
          </a:p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From Belief System to High-Volume Video Production</a:t>
            </a:r>
          </a:p>
          <a:p>
            <a:pPr>
              <a:lnSpc>
                <a:spcPct val="140000"/>
              </a:lnSpc>
              <a:defRPr sz="1300">
                <a:solidFill>
                  <a:srgbClr val="A6A6A6"/>
                </a:solidFill>
              </a:defRPr>
            </a:pPr>
            <a:r>
              <a:t>Having codified your uncopyable worldview in Pillar 1, Pillar 2 turns your brand into a high-output media machine. We engineer high-retention video assets that capture attention at scale while demanding near-zero time from you as a founder.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15 /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67160" y="0"/>
            <a:ext cx="621792" cy="6858000"/>
          </a:xfrm>
          <a:prstGeom prst="rect">
            <a:avLst/>
          </a:prstGeom>
          <a:solidFill>
            <a:srgbClr val="0E0E0E"/>
          </a:solidFill>
          <a:ln w="9525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2336" y="137160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5400000">
            <a:off x="11612880" y="155448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01 CODEX</a:t>
            </a:r>
          </a:p>
        </p:txBody>
      </p:sp>
      <p:sp>
        <p:nvSpPr>
          <p:cNvPr id="9" name="Oval 8"/>
          <p:cNvSpPr/>
          <p:nvPr/>
        </p:nvSpPr>
        <p:spPr>
          <a:xfrm>
            <a:off x="11832336" y="3017520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5400000">
            <a:off x="11612880" y="320040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6B00"/>
                </a:solidFill>
                <a:latin typeface="Poppins"/>
              </a:defRPr>
            </a:pPr>
            <a:r>
              <a:t>02 ENGINE</a:t>
            </a:r>
          </a:p>
        </p:txBody>
      </p:sp>
      <p:sp>
        <p:nvSpPr>
          <p:cNvPr id="11" name="Oval 10"/>
          <p:cNvSpPr/>
          <p:nvPr/>
        </p:nvSpPr>
        <p:spPr>
          <a:xfrm>
            <a:off x="11832336" y="466344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5400000">
            <a:off x="11612880" y="484632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03 APA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PRODUCTION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2-Hour Weekly Founder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6A6A6"/>
                </a:solidFill>
                <a:latin typeface="Poppins"/>
              </a:defRPr>
            </a:pPr>
            <a:r>
              <a:t>How FirstSelfie eliminates the operational burden of content creation.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103120"/>
            <a:ext cx="342900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37744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F6B00"/>
                </a:solidFill>
              </a:defRPr>
            </a:pPr>
            <a:r>
              <a:t>STEP 01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Curated Topic Selection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You review and approve pre-scripted high-converting frameworks (15 min).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2103120"/>
            <a:ext cx="342900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37744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F6B00"/>
                </a:solidFill>
              </a:defRPr>
            </a:pPr>
            <a:r>
              <a:t>STEP 02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Remote / On-Site Shoot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Our director coaches your delivery through rapid batch recording (90 min).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103120"/>
            <a:ext cx="342900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237744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F6B00"/>
                </a:solidFill>
              </a:defRPr>
            </a:pPr>
            <a:r>
              <a:t>STEP 03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Full Turnkey Hand-Off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Our editing studio handles cutting, audio mastering, and syndication (0 min).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16 /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67160" y="0"/>
            <a:ext cx="621792" cy="6858000"/>
          </a:xfrm>
          <a:prstGeom prst="rect">
            <a:avLst/>
          </a:prstGeom>
          <a:solidFill>
            <a:srgbClr val="0E0E0E"/>
          </a:solidFill>
          <a:ln w="9525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2336" y="137160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5400000">
            <a:off x="11612880" y="155448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01 CODEX</a:t>
            </a:r>
          </a:p>
        </p:txBody>
      </p:sp>
      <p:sp>
        <p:nvSpPr>
          <p:cNvPr id="9" name="Oval 8"/>
          <p:cNvSpPr/>
          <p:nvPr/>
        </p:nvSpPr>
        <p:spPr>
          <a:xfrm>
            <a:off x="11832336" y="3017520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5400000">
            <a:off x="11612880" y="320040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6B00"/>
                </a:solidFill>
                <a:latin typeface="Poppins"/>
              </a:defRPr>
            </a:pPr>
            <a:r>
              <a:t>02 ENGINE</a:t>
            </a:r>
          </a:p>
        </p:txBody>
      </p:sp>
      <p:sp>
        <p:nvSpPr>
          <p:cNvPr id="11" name="Oval 10"/>
          <p:cNvSpPr/>
          <p:nvPr/>
        </p:nvSpPr>
        <p:spPr>
          <a:xfrm>
            <a:off x="11832336" y="466344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5400000">
            <a:off x="11612880" y="484632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03 APA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CINEMATIC VIDEO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Visual Framing, Lighting, and Retention Editing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011680"/>
            <a:ext cx="1078992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860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HIGH-TASTE CINEMATIC BLUEPRINT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The 5 Pillars of FirstSelfie Visual Quality: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1. Cinematic Studio Lighting: Deep black contrast ratios with subtle warm rim lighting.</a:t>
            </a:r>
            <a:br/>
            <a:r>
              <a:t>2. Audio Mastering: Broadcast-grade vocal clarity eliminating background echo.</a:t>
            </a:r>
            <a:br/>
            <a:r>
              <a:t>3. Micro-Hook Editing: Visual state shifts every 3.5 seconds to maximize completion rates.</a:t>
            </a:r>
            <a:br/>
            <a:r>
              <a:t>4. Custom Lower-Thirds: Bespoke typography and identity badges, avoiding cheap generic captions.</a:t>
            </a:r>
            <a:br/>
            <a:r>
              <a:t>5. Color Grading: Rich obsidian black and warm amber tones engineered for premium authority.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17 /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67160" y="0"/>
            <a:ext cx="621792" cy="6858000"/>
          </a:xfrm>
          <a:prstGeom prst="rect">
            <a:avLst/>
          </a:prstGeom>
          <a:solidFill>
            <a:srgbClr val="0E0E0E"/>
          </a:solidFill>
          <a:ln w="9525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2336" y="137160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5400000">
            <a:off x="11612880" y="155448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01 CODEX</a:t>
            </a:r>
          </a:p>
        </p:txBody>
      </p:sp>
      <p:sp>
        <p:nvSpPr>
          <p:cNvPr id="9" name="Oval 8"/>
          <p:cNvSpPr/>
          <p:nvPr/>
        </p:nvSpPr>
        <p:spPr>
          <a:xfrm>
            <a:off x="11832336" y="3017520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5400000">
            <a:off x="11612880" y="320040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6B00"/>
                </a:solidFill>
                <a:latin typeface="Poppins"/>
              </a:defRPr>
            </a:pPr>
            <a:r>
              <a:t>02 ENGINE</a:t>
            </a:r>
          </a:p>
        </p:txBody>
      </p:sp>
      <p:sp>
        <p:nvSpPr>
          <p:cNvPr id="11" name="Oval 10"/>
          <p:cNvSpPr/>
          <p:nvPr/>
        </p:nvSpPr>
        <p:spPr>
          <a:xfrm>
            <a:off x="11832336" y="466344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5400000">
            <a:off x="11612880" y="484632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03 APA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OMNICHANNEL SYNDICATION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One Recording Sprint → Distributed to 4 Major Channels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103120"/>
            <a:ext cx="256032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8600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CHANNEL 01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YOUTUBE SHORTS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High-intent search &amp; algorithmic recommendation engine.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103120"/>
            <a:ext cx="256032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228600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CHANNEL 02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INSTAGRAM REELS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High-velocity virality, direct DM engagement &amp; social proof.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103120"/>
            <a:ext cx="256032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28600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CHANNEL 03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LINKEDIN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Enterprise B2B buyer targeting and professional authority.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2103120"/>
            <a:ext cx="256032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228600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FF6B00"/>
                </a:solidFill>
              </a:defRPr>
            </a:pPr>
            <a:r>
              <a:t>CHANNEL 04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X (TWITTER)</a:t>
            </a:r>
          </a:p>
          <a:p>
            <a:pPr>
              <a:lnSpc>
                <a:spcPct val="130000"/>
              </a:lnSpc>
              <a:defRPr sz="1100">
                <a:solidFill>
                  <a:srgbClr val="A6A6A6"/>
                </a:solidFill>
              </a:defRPr>
            </a:pPr>
            <a:r>
              <a:t>Rapid thought leadership feedback and industry dialogue.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18 /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67160" y="0"/>
            <a:ext cx="621792" cy="6858000"/>
          </a:xfrm>
          <a:prstGeom prst="rect">
            <a:avLst/>
          </a:prstGeom>
          <a:solidFill>
            <a:srgbClr val="0E0E0E"/>
          </a:solidFill>
          <a:ln w="9525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2336" y="137160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5400000">
            <a:off x="11612880" y="155448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01 CODEX</a:t>
            </a:r>
          </a:p>
        </p:txBody>
      </p:sp>
      <p:sp>
        <p:nvSpPr>
          <p:cNvPr id="9" name="Oval 8"/>
          <p:cNvSpPr/>
          <p:nvPr/>
        </p:nvSpPr>
        <p:spPr>
          <a:xfrm>
            <a:off x="11832336" y="3017520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5400000">
            <a:off x="11612880" y="320040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6B00"/>
                </a:solidFill>
                <a:latin typeface="Poppins"/>
              </a:defRPr>
            </a:pPr>
            <a:r>
              <a:t>02 ENGINE</a:t>
            </a:r>
          </a:p>
        </p:txBody>
      </p:sp>
      <p:sp>
        <p:nvSpPr>
          <p:cNvPr id="11" name="Oval 10"/>
          <p:cNvSpPr/>
          <p:nvPr/>
        </p:nvSpPr>
        <p:spPr>
          <a:xfrm>
            <a:off x="11832336" y="466344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5400000">
            <a:off x="11612880" y="484632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03 APA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SCALE &amp; VELOCITY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Consistency at Scale: The Compounding Flywheel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011680"/>
            <a:ext cx="1078992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860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THE COMPOUNDING EFFECT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Why Most Brands Never Reach the Inflection Point</a:t>
            </a:r>
          </a:p>
          <a:p>
            <a:pPr>
              <a:lnSpc>
                <a:spcPct val="140000"/>
              </a:lnSpc>
              <a:defRPr sz="1300">
                <a:solidFill>
                  <a:srgbClr val="A6A6A6"/>
                </a:solidFill>
              </a:defRPr>
            </a:pPr>
            <a:r>
              <a:t>Most creators burn out after 30 days because they lack a turnkey system. The FirstSelfie Media Engine guarantees 15–20 high-fidelity posts per month with zero operational drag on the founder. Every video compounds as a permanent digital salesperson working 24/7.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19 /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67160" y="0"/>
            <a:ext cx="621792" cy="6858000"/>
          </a:xfrm>
          <a:prstGeom prst="rect">
            <a:avLst/>
          </a:prstGeom>
          <a:solidFill>
            <a:srgbClr val="0E0E0E"/>
          </a:solidFill>
          <a:ln w="9525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2336" y="137160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5400000">
            <a:off x="11612880" y="155448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01 CODEX</a:t>
            </a:r>
          </a:p>
        </p:txBody>
      </p:sp>
      <p:sp>
        <p:nvSpPr>
          <p:cNvPr id="9" name="Oval 8"/>
          <p:cNvSpPr/>
          <p:nvPr/>
        </p:nvSpPr>
        <p:spPr>
          <a:xfrm>
            <a:off x="11832336" y="301752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5400000">
            <a:off x="11612880" y="320040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02 ENGINE</a:t>
            </a:r>
          </a:p>
        </p:txBody>
      </p:sp>
      <p:sp>
        <p:nvSpPr>
          <p:cNvPr id="11" name="Oval 10"/>
          <p:cNvSpPr/>
          <p:nvPr/>
        </p:nvSpPr>
        <p:spPr>
          <a:xfrm>
            <a:off x="11832336" y="4663440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5400000">
            <a:off x="11612880" y="484632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6B00"/>
                </a:solidFill>
                <a:latin typeface="Poppins"/>
              </a:defRPr>
            </a:pPr>
            <a:r>
              <a:t>03 APA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PILLAR 3: APA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APA Conversion Matrix: Audience → Perception →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011680"/>
            <a:ext cx="1078992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860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A3C"/>
                </a:solidFill>
              </a:defRPr>
            </a:pPr>
            <a:r>
              <a:t>CONVERSION ARCHITECTURE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Attention Without Conversion Is a Vanity Metric</a:t>
            </a:r>
          </a:p>
          <a:p>
            <a:pPr>
              <a:lnSpc>
                <a:spcPct val="140000"/>
              </a:lnSpc>
              <a:defRPr sz="1300">
                <a:solidFill>
                  <a:srgbClr val="A6A6A6"/>
                </a:solidFill>
              </a:defRPr>
            </a:pPr>
            <a:r>
              <a:t>A million views means nothing if it doesn't translate into high-ticket pipeline. The APA Matrix engineers specific call-to-actions, keyword triggers in comments, and direct DM conversations that qualify and book enterprise buyers while you sleep.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20 /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67160" y="0"/>
            <a:ext cx="621792" cy="6858000"/>
          </a:xfrm>
          <a:prstGeom prst="rect">
            <a:avLst/>
          </a:prstGeom>
          <a:solidFill>
            <a:srgbClr val="0E0E0E"/>
          </a:solidFill>
          <a:ln w="9525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2336" y="137160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5400000">
            <a:off x="11612880" y="155448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01 CODEX</a:t>
            </a:r>
          </a:p>
        </p:txBody>
      </p:sp>
      <p:sp>
        <p:nvSpPr>
          <p:cNvPr id="9" name="Oval 8"/>
          <p:cNvSpPr/>
          <p:nvPr/>
        </p:nvSpPr>
        <p:spPr>
          <a:xfrm>
            <a:off x="11832336" y="301752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5400000">
            <a:off x="11612880" y="320040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02 ENGINE</a:t>
            </a:r>
          </a:p>
        </p:txBody>
      </p:sp>
      <p:sp>
        <p:nvSpPr>
          <p:cNvPr id="11" name="Oval 10"/>
          <p:cNvSpPr/>
          <p:nvPr/>
        </p:nvSpPr>
        <p:spPr>
          <a:xfrm>
            <a:off x="11832336" y="4663440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5400000">
            <a:off x="11612880" y="484632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6B00"/>
                </a:solidFill>
                <a:latin typeface="Poppins"/>
              </a:defRPr>
            </a:pPr>
            <a:r>
              <a:t>03 APA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APA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3 Stages of Inbound Lead Qualification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103120"/>
            <a:ext cx="342900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37744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F9A3C"/>
                </a:solidFill>
              </a:defRPr>
            </a:pPr>
            <a:r>
              <a:t>STAGE 01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AUDIENCE CAPTURE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Attracting verified decision-makers using targeted industry problem hooks.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103120"/>
            <a:ext cx="342900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37744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F9A3C"/>
                </a:solidFill>
              </a:defRPr>
            </a:pPr>
            <a:r>
              <a:t>STAGE 02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PERCEPTION SHIFT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Establishing premium authority so price resistance is eliminated before sales calls.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103120"/>
            <a:ext cx="342900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237744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F9A3C"/>
                </a:solidFill>
              </a:defRPr>
            </a:pPr>
            <a:r>
              <a:t>STAGE 03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ACTION INITIATION</a:t>
            </a:r>
          </a:p>
          <a:p>
            <a:pPr>
              <a:lnSpc>
                <a:spcPct val="140000"/>
              </a:lnSpc>
              <a:defRPr sz="1200">
                <a:solidFill>
                  <a:srgbClr val="A6A6A6"/>
                </a:solidFill>
              </a:defRPr>
            </a:pPr>
            <a:r>
              <a:t>Keyword trigger automation sending prospective clients straight to your booking link.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21 /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67160" y="0"/>
            <a:ext cx="621792" cy="6858000"/>
          </a:xfrm>
          <a:prstGeom prst="rect">
            <a:avLst/>
          </a:prstGeom>
          <a:solidFill>
            <a:srgbClr val="0E0E0E"/>
          </a:solidFill>
          <a:ln w="9525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2336" y="137160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5400000">
            <a:off x="11612880" y="155448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01 CODEX</a:t>
            </a:r>
          </a:p>
        </p:txBody>
      </p:sp>
      <p:sp>
        <p:nvSpPr>
          <p:cNvPr id="9" name="Oval 8"/>
          <p:cNvSpPr/>
          <p:nvPr/>
        </p:nvSpPr>
        <p:spPr>
          <a:xfrm>
            <a:off x="11832336" y="3017520"/>
            <a:ext cx="109728" cy="109728"/>
          </a:xfrm>
          <a:prstGeom prst="ellips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5400000">
            <a:off x="11612880" y="320040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E6E6E"/>
                </a:solidFill>
                <a:latin typeface="Poppins"/>
              </a:defRPr>
            </a:pPr>
            <a:r>
              <a:t>02 ENGINE</a:t>
            </a:r>
          </a:p>
        </p:txBody>
      </p:sp>
      <p:sp>
        <p:nvSpPr>
          <p:cNvPr id="11" name="Oval 10"/>
          <p:cNvSpPr/>
          <p:nvPr/>
        </p:nvSpPr>
        <p:spPr>
          <a:xfrm>
            <a:off x="11832336" y="4663440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5400000">
            <a:off x="11612880" y="4846320"/>
            <a:ext cx="548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6B00"/>
                </a:solidFill>
                <a:latin typeface="Poppins"/>
              </a:defRPr>
            </a:pPr>
            <a:r>
              <a:t>03 APA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HIGH-TICKET 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DM &amp; Comment Automation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011680"/>
            <a:ext cx="10789920" cy="429768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860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THE AUTOMATED INBOUND PIPELINE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Turn Every Reel Into a Direct Sales Channel</a:t>
            </a:r>
          </a:p>
          <a:p>
            <a:pPr>
              <a:lnSpc>
                <a:spcPct val="140000"/>
              </a:lnSpc>
              <a:defRPr sz="1300">
                <a:solidFill>
                  <a:srgbClr val="A6A6A6"/>
                </a:solidFill>
              </a:defRPr>
            </a:pPr>
            <a:r>
              <a:t>• Comment Trigger: Viewers comment 'BLUEPRINT' on any post to unlock your case study.</a:t>
            </a:r>
            <a:br/>
            <a:r>
              <a:t>• Instant DM Handshake: ManyChat API delivers the resource and initiates a 3-question qualification.</a:t>
            </a:r>
            <a:br/>
            <a:r>
              <a:t>• Calendar Integration: High-intent prospects are automatically handed off to your executive calendar.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22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OMNICHANNEL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Viral Video IP: 7.0M Reel Reach &amp; Community Dominance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383280" cy="45720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2026-07-04-13-11-38-079_com.instagram.androi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65960"/>
            <a:ext cx="3017520" cy="4297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0" y="1828800"/>
            <a:ext cx="3383280" cy="45720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_2026-07-04-13-11-41-583_com.instagram.androi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965960"/>
            <a:ext cx="3017520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1828800"/>
            <a:ext cx="3383280" cy="45720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_2026-07-04-13-11-50-204_com.instagram.androi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1965960"/>
            <a:ext cx="30175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23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THE 3-STAR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Complete FirstSelfie System Working in Unison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529584" cy="43891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16382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6B00"/>
                </a:solidFill>
              </a:defRPr>
            </a:pPr>
            <a:r>
              <a:t>STAR 01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THE CODEX</a:t>
            </a:r>
          </a:p>
          <a:p>
            <a:pPr>
              <a:spcAft>
                <a:spcPts val="1400"/>
              </a:spcAft>
              <a:defRPr sz="1000" b="1">
                <a:solidFill>
                  <a:srgbClr val="FF6B00"/>
                </a:solidFill>
              </a:defRPr>
            </a:pPr>
            <a:r>
              <a:t>Identity &amp; Belief Architecture</a:t>
            </a:r>
          </a:p>
          <a:p>
            <a:pPr>
              <a:lnSpc>
                <a:spcPct val="140000"/>
              </a:lnSpc>
              <a:defRPr sz="1100">
                <a:solidFill>
                  <a:srgbClr val="A6A6A6"/>
                </a:solidFill>
              </a:defRPr>
            </a:pPr>
            <a:r>
              <a:t>• Contrarian positioning</a:t>
            </a:r>
            <a:br/>
            <a:r>
              <a:t>• Category definition</a:t>
            </a:r>
            <a:br/>
            <a:r>
              <a:t>• Narrative pillars</a:t>
            </a:r>
            <a:br/>
            <a:r>
              <a:t>• Immune to copycats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2011680"/>
            <a:ext cx="3529584" cy="43891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2194560"/>
            <a:ext cx="316382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3D00"/>
                </a:solidFill>
              </a:defRPr>
            </a:pPr>
            <a:r>
              <a:t>STAR 02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THE ENGINE</a:t>
            </a:r>
          </a:p>
          <a:p>
            <a:pPr>
              <a:spcAft>
                <a:spcPts val="1400"/>
              </a:spcAft>
              <a:defRPr sz="1000" b="1">
                <a:solidFill>
                  <a:srgbClr val="FF3D00"/>
                </a:solidFill>
              </a:defRPr>
            </a:pPr>
            <a:r>
              <a:t>High-Velocity Media Machine</a:t>
            </a:r>
          </a:p>
          <a:p>
            <a:pPr>
              <a:lnSpc>
                <a:spcPct val="140000"/>
              </a:lnSpc>
              <a:defRPr sz="1100">
                <a:solidFill>
                  <a:srgbClr val="A6A6A6"/>
                </a:solidFill>
              </a:defRPr>
            </a:pPr>
            <a:r>
              <a:t>• 2 hrs/week founder time</a:t>
            </a:r>
            <a:br/>
            <a:r>
              <a:t>• 15–20 high-fidelity reels</a:t>
            </a:r>
            <a:br/>
            <a:r>
              <a:t>• Cinematic lighting &amp; grade</a:t>
            </a:r>
            <a:br/>
            <a:r>
              <a:t>• 4-platform syndication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2011680"/>
            <a:ext cx="3529584" cy="43891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3" y="2194560"/>
            <a:ext cx="316382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9A3C"/>
                </a:solidFill>
              </a:defRPr>
            </a:pPr>
            <a:r>
              <a:t>STAR 03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THE APA MATRIX</a:t>
            </a:r>
          </a:p>
          <a:p>
            <a:pPr>
              <a:spcAft>
                <a:spcPts val="1400"/>
              </a:spcAft>
              <a:defRPr sz="1000" b="1">
                <a:solidFill>
                  <a:srgbClr val="FF9A3C"/>
                </a:solidFill>
              </a:defRPr>
            </a:pPr>
            <a:r>
              <a:t>Automated Inbound Funnel</a:t>
            </a:r>
          </a:p>
          <a:p>
            <a:pPr>
              <a:lnSpc>
                <a:spcPct val="140000"/>
              </a:lnSpc>
              <a:defRPr sz="1100">
                <a:solidFill>
                  <a:srgbClr val="A6A6A6"/>
                </a:solidFill>
              </a:defRPr>
            </a:pPr>
            <a:r>
              <a:t>• Comment keyword triggers</a:t>
            </a:r>
            <a:br/>
            <a:r>
              <a:t>• DM qualification bot</a:t>
            </a:r>
            <a:br/>
            <a:r>
              <a:t>• Pre-sold discovery calls</a:t>
            </a:r>
            <a:br/>
            <a:r>
              <a:t>• Zero cold outreach needed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24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INBOUND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Pre-Sold Client Inquiries &amp; WhatsApp DM Proof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06040" cy="45720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2026-07-04-13-15-51-706_com.instagram.androi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65960"/>
            <a:ext cx="2331720" cy="4297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91840" y="1828800"/>
            <a:ext cx="2606040" cy="45720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_2026-07-04-13-15-59-708_com.instagram.androi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965960"/>
            <a:ext cx="2331720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0" y="1828800"/>
            <a:ext cx="2606040" cy="45720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_2026-07-04-13-53-49-416_com.instagram.androi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965960"/>
            <a:ext cx="2331720" cy="4297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778240" y="1828800"/>
            <a:ext cx="2606040" cy="457200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houfiq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1965960"/>
            <a:ext cx="23317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25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PARTNERSHIP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90-Day Identity Sprint Engagement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303520" cy="43891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00"/>
                </a:solidFill>
              </a:defRPr>
            </a:pPr>
            <a:r>
              <a:t>WHAT WE DELIVER (Turnkey)</a:t>
            </a:r>
          </a:p>
          <a:p>
            <a:pPr>
              <a:lnSpc>
                <a:spcPct val="140000"/>
              </a:lnSpc>
              <a:defRPr sz="1200">
                <a:solidFill>
                  <a:srgbClr val="FFFFFF"/>
                </a:solidFill>
              </a:defRPr>
            </a:pPr>
            <a:r>
              <a:t>• Complete Identity Codex &amp; positioning architecture</a:t>
            </a:r>
            <a:br/>
            <a:r>
              <a:t>• High-velocity batch recording sessions (2 hrs/week)</a:t>
            </a:r>
            <a:br/>
            <a:r>
              <a:t>• Studio cinematic editing, sound design, and color grade</a:t>
            </a:r>
            <a:br/>
            <a:r>
              <a:t>• Daily multi-platform publishing and syndication</a:t>
            </a:r>
            <a:br/>
            <a:r>
              <a:t>• Automated ManyChat APA conversion funnels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303520" cy="43891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00"/>
                </a:solidFill>
              </a:defRPr>
            </a:pPr>
            <a:r>
              <a:t>CLIENT QUALIFIERS</a:t>
            </a:r>
          </a:p>
          <a:p>
            <a:pPr>
              <a:lnSpc>
                <a:spcPct val="140000"/>
              </a:lnSpc>
              <a:defRPr sz="1200">
                <a:solidFill>
                  <a:srgbClr val="FFFFFF"/>
                </a:solidFill>
              </a:defRPr>
            </a:pPr>
            <a:r>
              <a:t>• Established Founders &amp; Executives with proven market traction</a:t>
            </a:r>
            <a:br/>
            <a:r>
              <a:t>• High-Ticket Offer ($2,000+ to $50,000+ contract values)</a:t>
            </a:r>
            <a:br/>
            <a:r>
              <a:t>• Willingness to invest 2 hours per week in rapid batch recording</a:t>
            </a:r>
            <a:br/>
            <a:r>
              <a:t>• Looking to build long-term category monopoly, not overnight hype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256032"/>
            <a:ext cx="2011680" cy="384048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>
              <a:defRPr sz="850" b="1">
                <a:solidFill>
                  <a:srgbClr val="FF6B00"/>
                </a:solidFill>
                <a:latin typeface="Poppins"/>
              </a:defRPr>
            </a:pPr>
            <a:r>
              <a:t>   FIRSTSELFIE // 2026</a:t>
            </a:r>
          </a:p>
        </p:txBody>
      </p:sp>
      <p:pic>
        <p:nvPicPr>
          <p:cNvPr id="4" name="Picture 3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10896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E6E6E"/>
                </a:solidFill>
                <a:latin typeface="Poppins"/>
              </a:defRPr>
            </a:pPr>
            <a:r>
              <a:t>26 /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"/>
            <a:ext cx="2926080" cy="329184"/>
          </a:xfrm>
          <a:prstGeom prst="roundRect">
            <a:avLst/>
          </a:prstGeom>
          <a:solidFill>
            <a:srgbClr val="1C100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6B00"/>
                </a:solidFill>
                <a:latin typeface="Poppins"/>
              </a:defRPr>
            </a:pPr>
            <a:r>
              <a:t>● CATEGORY DOMINANCE //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Build Your Uncopyable Category Monopoly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011680"/>
            <a:ext cx="7619695" cy="4389120"/>
          </a:xfrm>
          <a:prstGeom prst="roundRect">
            <a:avLst/>
          </a:prstGeom>
          <a:solidFill>
            <a:srgbClr val="161616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imary Logo - Transparent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86000"/>
            <a:ext cx="1920240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0" y="3566160"/>
            <a:ext cx="6705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Schedule Your Private Strategy Session</a:t>
            </a:r>
          </a:p>
          <a:p>
            <a:pPr algn="ctr">
              <a:spcAft>
                <a:spcPts val="2000"/>
              </a:spcAft>
              <a:defRPr sz="1300">
                <a:solidFill>
                  <a:srgbClr val="A6A6A6"/>
                </a:solidFill>
              </a:defRPr>
            </a:pPr>
            <a:r>
              <a:t>We engineer 5 new Identity Brands per quarter to ensure white-glove executive delivery. Secure your category wedge before your closest competitor does.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5120640"/>
            <a:ext cx="3749039" cy="640080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APPLY AT FIRSTSELFIE.IN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