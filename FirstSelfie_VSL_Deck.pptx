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2880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4572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FIRST FRAME TO A MILLION FACES.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accounts. Real growth. Real screenshots.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2337344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/home/claude/vsl/proof/profile_40k_1c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208" y="2286000"/>
            <a:ext cx="1604246" cy="3566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209328" y="5989320"/>
            <a:ext cx="1970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40.3K followers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&gt;1 Cr views / 30 days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261630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2" descr="/home/claude/vsl/proof/profile_47k_54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94" y="2286000"/>
            <a:ext cx="1604246" cy="35661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133614" y="5989320"/>
            <a:ext cx="1970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47.2K followers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54.7L views / 30 days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185916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3" descr="/home/claude/vsl/proof/client_ponnu_londo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286000"/>
            <a:ext cx="1604246" cy="35661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57900" y="5989320"/>
            <a:ext cx="1970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Client: Tamil Ponnu in London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195K followers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8110202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4" descr="/home/claude/vsl/proof/client_ladyo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066" y="2286000"/>
            <a:ext cx="1604246" cy="35661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982186" y="5989320"/>
            <a:ext cx="19700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Client: LadyO (Clothing brand)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16.2K followers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1887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 MONTHS AGO WE CAUGHT A WAVE.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Then everyone copied it — and the wave died.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 flipV="1">
            <a:off x="640080" y="3291840"/>
            <a:ext cx="10881360" cy="2194560"/>
          </a:xfrm>
          <a:prstGeom prst="wave">
            <a:avLst/>
          </a:prstGeom>
          <a:solidFill>
            <a:srgbClr val="FF6B00">
              <a:alpha val="22000"/>
            </a:srgbClr>
          </a:solidFill>
          <a:ln w="38100">
            <a:solidFill>
              <a:srgbClr val="FF6B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0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Whoever went viral first got copied. Nobody innovates — the format just gets diluted until it dies.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FORMAT THAT CHANGED EVERYTHING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76"/>
              </a:lnSpc>
              <a:buNone/>
            </a:pPr>
            <a:r>
              <a:rPr lang="en-US" sz="2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content format. A measurable spike in every metric.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162327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1" descr="/home/claude/vsl/proof/reel_7M_view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91" y="2286000"/>
            <a:ext cx="1604246" cy="3566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034311" y="5989320"/>
            <a:ext cx="197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7,000,002 views · 1 reel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223773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2" descr="/home/claude/vsl/proof/reel_7_9M_view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637" y="2286000"/>
            <a:ext cx="1604246" cy="35661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95757" y="5989320"/>
            <a:ext cx="197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7,902,290 views · 1 reel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285219" y="2231136"/>
            <a:ext cx="1713974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3" descr="/home/claude/vsl/proof/followers_57k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083" y="2286000"/>
            <a:ext cx="1604246" cy="35661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157203" y="5989320"/>
            <a:ext cx="1970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57,230 followers · +70% in 60 days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143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“BRO, THEY’RE COPYING YOUR STYLE.”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Within 9 months of launch, multiple creators had copied our format. We didn't find most of them — our own followers did.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394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question isn't whether people will copy you. It's whether you'll be the one building — or the one copying.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JUST INDIVIDUALS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We've even trained agencies on their own personal branding.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Agencies build brands for their clients all day — but most founders inside those agencies have zero personal brand of their own. We've closed that gap for them too. That's how deep our specialization runs.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BEHIND ALL OF IT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 Star Framework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34290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Codex Method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60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Strong positioning + a clean system so you're never stuck wondering what to post.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2286000"/>
            <a:ext cx="34290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53712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Brain-First Engine System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4160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engine that takes you from 3 hours per script to 15 ideas in 2 days.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18704" y="2286000"/>
            <a:ext cx="3429000" cy="3566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93024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193024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After-Post APA Matrix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93024" y="41605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views and analytics into your next move — every single post.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THIS VIDEO IS FOR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for you if...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6596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want an Identity Brand, not just a personal brand — people follow how you say it, not just what you say.</a:t>
            </a:r>
            <a:endParaRPr lang="en-US" sz="1650" dirty="0"/>
          </a:p>
          <a:p>
            <a:pPr marL="342900" indent="-342900">
              <a:lnSpc>
                <a:spcPts val="25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playing the long game: building a team, a real business, not chasing one viral post.</a:t>
            </a:r>
            <a:endParaRPr lang="en-US" sz="1650" dirty="0"/>
          </a:p>
          <a:p>
            <a:pPr marL="342900" indent="-342900">
              <a:lnSpc>
                <a:spcPts val="25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take action. You're not a procrastinator — you just need the roadmap.</a:t>
            </a:r>
            <a:endParaRPr lang="en-US" sz="1650" dirty="0"/>
          </a:p>
          <a:p>
            <a:pPr marL="342900" indent="-342900">
              <a:lnSpc>
                <a:spcPts val="25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want to burn 6 months and ₹5 lakh figuring this out solo.</a:t>
            </a:r>
            <a:endParaRPr lang="en-US" sz="1650" dirty="0"/>
          </a:p>
          <a:p>
            <a:pPr marL="342900" indent="-342900">
              <a:lnSpc>
                <a:spcPts val="25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see content as a system that plugs directly into your sales process.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takes 20 minutes.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06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can't spend 20 minutes on the thing that grows your business, this isn't for you — and that's fine.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794760"/>
            <a:ext cx="8778240" cy="137160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931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“You don't find time for what matters. You make it — everything else was never a priority to begin with.”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 THE RIGHT EXPECTATION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overnight success. It's the Creator Valley.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659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There's no shortcut to a winning system on par with global brands — you put in the work.</a:t>
            </a:r>
            <a:endParaRPr lang="en-US" sz="1550" dirty="0"/>
          </a:p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for brand-building, not quick money.</a:t>
            </a:r>
            <a:endParaRPr lang="en-US" sz="1550" dirty="0"/>
          </a:p>
          <a:p>
            <a:pPr marL="342900" indent="-342900">
              <a:lnSpc>
                <a:spcPts val="23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spend time and effort going down before the hockey-stick up.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10881360" cy="2103120"/>
          </a:xfrm>
          <a:prstGeom prst="wave">
            <a:avLst/>
          </a:prstGeom>
          <a:solidFill>
            <a:srgbClr val="FF6B00">
              <a:alpha val="18000"/>
            </a:srgbClr>
          </a:solidFill>
          <a:ln w="38100">
            <a:solidFill>
              <a:srgbClr val="FF6B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Effort &amp; Time →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WE WORK WITH YOU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Done-For-You. It's Done-With-You.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5120640" cy="393192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Done-For-You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0175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say “take my money, handle it.”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businesses at ₹1 Cr+ revenue.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interest in building an in-house team.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2103120"/>
            <a:ext cx="5120640" cy="3931920"/>
          </a:xfrm>
          <a:prstGeom prst="rect">
            <a:avLst/>
          </a:prstGeom>
          <a:solidFill>
            <a:srgbClr val="0A0A0A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Done-With-You  ✓ This is us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0175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₹1 Cr, can't pay agencies lakhs/month.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Solopreneurs, or those training/managing their own team.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 Cr+ businesses that want an in-house team but lack clarity on how.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pic>
        <p:nvPicPr>
          <p:cNvPr id="3" name="Image 1" descr="/home/claude/vsl/proof/fs_chann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566160" cy="349600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46320" y="15544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 hasn't tapped 0.5% of content's potential.</a:t>
            </a:r>
            <a:endParaRPr lang="en-US" sz="2500" dirty="0"/>
          </a:p>
        </p:txBody>
      </p:sp>
      <p:sp>
        <p:nvSpPr>
          <p:cNvPr id="5" name="Text 1"/>
          <p:cNvSpPr txBox="1"/>
          <p:nvPr/>
        </p:nvSpPr>
        <p:spPr>
          <a:xfrm>
            <a:off x="4846320" y="2697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Especially for business owners and experts. We built this to close that gap.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4846320" y="3611880"/>
            <a:ext cx="667512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120640" y="37947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Creatorpreneur Mission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2033: 1 Crore Creatorpreneurs, each built toward ₹1 Crore in revenue.</a:t>
            </a:r>
            <a:endParaRPr lang="en-US" sz="1400" dirty="0"/>
          </a:p>
          <a:p>
            <a:pPr indent="0" marL="0">
              <a:lnSpc>
                <a:spcPts val="1900"/>
              </a:lnSpc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now part of it.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RECORD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actually did, in plain numbers.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429000" cy="173736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48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yrs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content learning before ever posting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2011680"/>
            <a:ext cx="3429000" cy="173736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2148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 days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50K followers — pure positioning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55280" y="2011680"/>
            <a:ext cx="3429000" cy="173736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21488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Cr+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Views in 30 days, purely educational content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054096" y="4059936"/>
            <a:ext cx="115865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1" descr="/home/claude/vsl/proof/profile_40k_1c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114800"/>
            <a:ext cx="1048930" cy="23317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68786" y="4059936"/>
            <a:ext cx="115865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/home/claude/vsl/proof/insights_1c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650" y="4114800"/>
            <a:ext cx="1048930" cy="23317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" y="6583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Actual Instagram dashboards — 30-day views, interactions &amp; follower growth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BE BLUNT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this is NOT for.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789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21945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19456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don't want to learn — you just want a magic button.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789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4290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342900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want quick results and nothing else.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4663440"/>
            <a:ext cx="107899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6634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✕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46634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want to run the same race as everyone else with zero innovation.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THIS IS ALL HEADING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24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future. You decide if you're in it.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2010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→ Roadmap → Ads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needed advertisements.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60520" y="2377440"/>
            <a:ext cx="18288" cy="1554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 → Personal Brand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founders need personal branding.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2377440"/>
            <a:ext cx="18288" cy="15544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2030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→ Media Company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 become media companies (e.g. Cookd).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4572000"/>
            <a:ext cx="10789920" cy="164592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57200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Cookd — a food brand that became a media company. Content IS the business now.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 FAMILIAR?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are here.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run an offline business.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You're an expert in your field.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D6D8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tried content creation — and you're on the verge of burnout.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297680"/>
            <a:ext cx="10881360" cy="1554480"/>
          </a:xfrm>
          <a:prstGeom prst="wave">
            <a:avLst/>
          </a:prstGeom>
          <a:solidFill>
            <a:srgbClr val="FF6B00">
              <a:alpha val="20000"/>
            </a:srgbClr>
          </a:solidFill>
          <a:ln w="38100">
            <a:solidFill>
              <a:srgbClr val="FF6B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BURNOUT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0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pivot you away from this curve — before you hit the wall.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 01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92"/>
              </a:lnSpc>
              <a:buNone/>
            </a:pPr>
            <a:r>
              <a:rPr lang="en-US" sz="24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 Codex Method — 7 steps before you shoot a single frame.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Strong positioning — so nobody can copy you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get stuck in the “what to post” loop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Clean, conversion-ready profile setup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repeatable content strategy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+ 3 more steps covered live on your call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06640" y="2011680"/>
            <a:ext cx="4114800" cy="402336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228600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60-Day Path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1–15: Build the foundation (Codex Method)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Days 16–60: Execute — your first 10 videos live</a:t>
            </a:r>
            <a:endParaRPr lang="en-US" sz="1500" dirty="0"/>
          </a:p>
          <a:p>
            <a:pPr indent="0" marL="0">
              <a:lnSpc>
                <a:spcPts val="1900"/>
              </a:lnSpc>
              <a:spcAft>
                <a:spcPts val="900"/>
              </a:spcAft>
              <a:buNone/>
            </a:pPr>
            <a:r>
              <a:rPr lang="en-US" sz="13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that: you scale without needing us.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 02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Brain-First Engine System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20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hours per script → 15 content ideas mapped in 2 days.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5212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2–5 Reels / day across IG + YouTube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2651760"/>
            <a:ext cx="5212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2651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Regular carousels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5212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2× 20-min long-form videos / week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3703320"/>
            <a:ext cx="5212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3703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story sequences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754880"/>
            <a:ext cx="5212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47548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communities, 1,300+ members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UNIQUE POSITIONING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formula behind a winning content format.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789920" cy="1188720"/>
          </a:xfrm>
          <a:prstGeom prst="rect">
            <a:avLst/>
          </a:prstGeom>
          <a:solidFill>
            <a:srgbClr val="F5F5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Format  +  You  +  Ownership  =  Winning Asset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“Rating content” went viral in Tamil and nobody remembers who started it — because nobody owned it. If that creator had claimed it as their signature, the entire trajectory changes.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FRAMEWORK 03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1887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After-Post APA Matrix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Views and analytics only matter if you know what to do with them next.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“Format copied by competitors” isn't a risk. It's a certainty. In the next 6–12 months you have two options: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108960"/>
            <a:ext cx="5394960" cy="310896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3291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&amp; own a unique format. Become the industry leader. Let others copy you — we build it with you.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3108960"/>
            <a:ext cx="5394960" cy="31089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3291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 it alone. Fine — but if someone else in your niche builds that winning format first, you'll be the one copying them.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WHAT WE DO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6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60-Day Personal Branding Sprint.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10789920" cy="3840480"/>
          </a:xfrm>
          <a:prstGeom prst="rect">
            <a:avLst/>
          </a:prstGeom>
          <a:solidFill>
            <a:srgbClr val="0A0A0A"/>
          </a:solidFill>
          <a:ln/>
        </p:spPr>
      </p:sp>
      <p:pic>
        <p:nvPicPr>
          <p:cNvPr id="6" name="Image 1" descr="/home/claude/vsl/proof/logo_second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10896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breakdown, pricing &amp; onboarding walkthrough — shown live on your call.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sl/proof/logo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5029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92024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next wave is coming.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0" y="27432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C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Ride it early — or watch someone else succeed first and jump in late.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7560" y="3749040"/>
            <a:ext cx="5486400" cy="13716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520440" y="3886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take 7–12 clients / month.</a:t>
            </a:r>
            <a:endParaRPr lang="en-US" sz="17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we're full, you'll be waitlisted.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0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watched this far, you're already in the top 1% of the Tamil creator space.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@firstselfie  ·  firstselfie.com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2026-09-07T03:51:29Z</dcterms:created>
  <dcterms:modified xsi:type="dcterms:W3CDTF">2026-09-07T03:51:29Z</dcterms:modified>
</cp:coreProperties>
</file>